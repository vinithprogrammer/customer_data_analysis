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ela Gothic One"/>
      <p:regular r:id="rId201314"/>
    </p:embeddedFont>
    <p:embeddedFont>
      <p:font typeface="DM Sans"/>
      <p:regular r:id="rId201315"/>
    </p:embeddedFont>
    <p:embeddedFont>
      <p:font typeface="DM Sans SemiBold"/>
      <p:regular r:id="rId201316"/>
    </p:embeddedFont>
    <p:embeddedFont>
      <p:font typeface="DM Sans Bold"/>
      <p:regular r:id="rId201317"/>
    </p:embeddedFont>
    <p:embeddedFont>
      <p:font typeface="DM Sans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410718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3869333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 and business recommendations for marketing and product teams.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390551"/>
            <a:ext cx="6355993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3,900 Purchases Analyzed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5203794" y="2763242"/>
            <a:ext cx="3096540" cy="1538188"/>
          </a:xfrm>
          <a:prstGeom prst="roundRect">
            <a:avLst>
              <a:gd name="adj" fmla="val 46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81590" y="2941042"/>
            <a:ext cx="2740949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18 Features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381590" y="3320852"/>
            <a:ext cx="2740949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spans customer demographics, purchase details, and shopping behavior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463247" y="2763242"/>
            <a:ext cx="3096540" cy="1538188"/>
          </a:xfrm>
          <a:prstGeom prst="roundRect">
            <a:avLst>
              <a:gd name="adj" fmla="val 46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42" y="2941042"/>
            <a:ext cx="2740949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41042" y="3320852"/>
            <a:ext cx="2740949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and integrated for comprehensive SQL analysis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03794" y="4464348"/>
            <a:ext cx="6355993" cy="1003002"/>
          </a:xfrm>
          <a:prstGeom prst="roundRect">
            <a:avLst>
              <a:gd name="adj" fmla="val 718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81590" y="4642148"/>
            <a:ext cx="6000401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3,900 Records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381590" y="5021957"/>
            <a:ext cx="600040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transaction-level data powering every insight in this report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2534543"/>
            <a:ext cx="846216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4" name="Text 1"/>
          <p:cNvSpPr/>
          <p:nvPr/>
        </p:nvSpPr>
        <p:spPr>
          <a:xfrm>
            <a:off x="740153" y="2588617"/>
            <a:ext cx="123931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1908" y="2880916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Findings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31908" y="3745607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data reveals about who is buying, what they buy, and how they behave.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62794"/>
            <a:ext cx="10927878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Revenue Skewed Toward Male Customers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318742"/>
            <a:ext cx="4991868" cy="35932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1444" y="2298402"/>
            <a:ext cx="5254692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Significant Revenue Gap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11444" y="2743398"/>
            <a:ext cx="5254692" cy="1217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account for </a:t>
            </a:r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r>
              <a:rPr lang="en-US" sz="1350" b="1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 — 68% of total revenue</a:t>
            </a:r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while female customers generate $75,191 (32%).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near 2:1 imbalance signals an underserved segment with meaningful growth potential.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11444" y="4143673"/>
            <a:ext cx="5254692" cy="914202"/>
          </a:xfrm>
          <a:prstGeom prst="roundRect">
            <a:avLst>
              <a:gd name="adj" fmla="val 7880"/>
            </a:avLst>
          </a:prstGeom>
          <a:solidFill>
            <a:srgbClr val="740B0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890" y="4389934"/>
            <a:ext cx="214307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8643" y="4333180"/>
            <a:ext cx="4526048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Opportunity: Develop targeted campaigns to increase female customer engagement and spending.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1379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Loyal Customers Dominate the Base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658963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80%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31908" y="34802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Loyal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1908" y="3885406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 — the bedrock of the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9740" y="2658963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18%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4349740" y="34802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Returning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49740" y="3885406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 with repeat purchase intent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67572" y="2658963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2%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67572" y="34802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New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7572" y="3885406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83 new customers — acquisition is a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908" y="4666357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customer base is heavily retention-driven. While loyalty is a strength, the near-absence of new customers signals that acquisition strategies need urgent attention.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96145"/>
            <a:ext cx="3595598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Subscription Adoption Lags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31908" y="2761754"/>
            <a:ext cx="3595598" cy="1351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 of customers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hold an active subscription — just 1,053 of 3,900.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Counterintuitively, subscribers spend </a:t>
            </a:r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slightly less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average ($59.49) than non-subscribers ($59.87), suggesting the subscription model is not currently driving incremental spend.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31908" y="4243487"/>
            <a:ext cx="3595598" cy="903883"/>
          </a:xfrm>
          <a:prstGeom prst="roundRect">
            <a:avLst>
              <a:gd name="adj" fmla="val 6711"/>
            </a:avLst>
          </a:prstGeom>
          <a:solidFill>
            <a:srgbClr val="4B3F0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68" y="4420989"/>
            <a:ext cx="180474" cy="1443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1102" y="4383484"/>
            <a:ext cx="2982044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subscription model needs repositioning to justify adoption and deliver measurable value.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258" y="1846858"/>
            <a:ext cx="5583792" cy="3164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0626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Clothing Dominates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974056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95143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Category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428776"/>
            <a:ext cx="5243679" cy="1570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Clothing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leads with ~$100K —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56% of total revenue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Accessories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contribute ~$75K (42%), making it a strong secondary category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Footwear &amp; Outerwear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combined account for only ~$45K (2%) — an area to monitor or invest 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2457" y="4162028"/>
            <a:ext cx="524367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concentration in two categories creates both opportunity and risk. Diversifying footwear and outerwear performance could meaningfully expand revenue.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371501"/>
            <a:ext cx="6355993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Top-Rated Products Drive Loyalty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1908" y="2744192"/>
            <a:ext cx="3096540" cy="1557238"/>
          </a:xfrm>
          <a:prstGeom prst="roundRect">
            <a:avLst>
              <a:gd name="adj" fmla="val 4626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704" y="2921992"/>
            <a:ext cx="2740949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Top Rated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09704" y="3320852"/>
            <a:ext cx="2740949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(3.86★), Sandals (3.84★), Boots (3.82★) lead in customer satisfaction scores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891361" y="2744192"/>
            <a:ext cx="3096540" cy="1557238"/>
          </a:xfrm>
          <a:prstGeom prst="roundRect">
            <a:avLst>
              <a:gd name="adj" fmla="val 4626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157" y="2921992"/>
            <a:ext cx="2740949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👕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Clothing Leaders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069157" y="3320852"/>
            <a:ext cx="2740949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Blouse, Pants, and Shirt are the highest-volume sellers in the Clothing category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1908" y="4464348"/>
            <a:ext cx="6355993" cy="1022052"/>
          </a:xfrm>
          <a:prstGeom prst="roundRect">
            <a:avLst>
              <a:gd name="adj" fmla="val 704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704" y="4642148"/>
            <a:ext cx="6000401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💍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Accessories Leaders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09704" y="5041007"/>
            <a:ext cx="600040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Jewelry, Sunglasses, and Belt top the Accessories category by sales volume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Discounts Drive Sales, Not Loyalty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31908" y="3025973"/>
            <a:ext cx="5346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High Discount Dependency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3234630"/>
            <a:ext cx="5346963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Hat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50% of purchases used a discount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Sneakers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49.66% discount rate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Coat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49.07% discount rate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31908" y="3668415"/>
            <a:ext cx="53469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customers spend above average even when discounts are applied — a signal that value perception exists, but it is being trained on price cuts rather than product merit.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31908" y="3960614"/>
            <a:ext cx="5346963" cy="256977"/>
          </a:xfrm>
          <a:prstGeom prst="roundRect">
            <a:avLst>
              <a:gd name="adj" fmla="val 15676"/>
            </a:avLst>
          </a:prstGeom>
          <a:solidFill>
            <a:srgbClr val="45070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51" y="4040386"/>
            <a:ext cx="119853" cy="958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3447" y="4030365"/>
            <a:ext cx="5549166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Over-reliance on discounts risks eroding margins and conditioning customers to wait for sales.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173" y="951409"/>
            <a:ext cx="5346963" cy="53470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0626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Young Adults Spend Most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974056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95143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Clear Age Hierarchy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428776"/>
            <a:ext cx="5243679" cy="234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Adults (18–30)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generate the most revenue at $62,143 — outpacing every other age cohort.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Middle-aged customers follow closely at $59,197, while Adult and Senior segments each contribute approximately $55K.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distribution suggests marketing investment in the 18–30 segment offers the highest return, while senior outreach remains underexplored.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2026-09-05T13:25:10Z</dcterms:created>
  <dcterms:modified xsi:type="dcterms:W3CDTF">2026-09-05T13:25:10Z</dcterms:modified>
</cp:coreProperties>
</file>