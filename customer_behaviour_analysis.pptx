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Dela Gothic One"/>
      <p:regular r:id="rId201314"/>
    </p:embeddedFont>
    <p:embeddedFont>
      <p:font typeface="DM Sans"/>
      <p:regular r:id="rId201315"/>
    </p:embeddedFont>
    <p:embeddedFont>
      <p:font typeface="DM Sans SemiBold"/>
      <p:regular r:id="rId201316"/>
    </p:embeddedFont>
    <p:embeddedFont>
      <p:font typeface="DM Sans Bold"/>
      <p:regular r:id="rId201317"/>
    </p:embeddedFont>
    <p:embeddedFont>
      <p:font typeface="DM Sans Black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A0A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2410718"/>
            <a:ext cx="6355993" cy="11878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Customer Shopping Behavior Analysis</a:t>
            </a:r>
            <a:endParaRPr lang="en-US" sz="3700" dirty="0"/>
          </a:p>
        </p:txBody>
      </p:sp>
      <p:sp>
        <p:nvSpPr>
          <p:cNvPr id="4" name="Text 1"/>
          <p:cNvSpPr/>
          <p:nvPr/>
        </p:nvSpPr>
        <p:spPr>
          <a:xfrm>
            <a:off x="631908" y="3869333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Key insights and business recommendations for marketing and product teams.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03794" y="1390551"/>
            <a:ext cx="6355993" cy="1128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3,900 Purchases Analyzed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5203794" y="2763242"/>
            <a:ext cx="3096540" cy="1538188"/>
          </a:xfrm>
          <a:prstGeom prst="roundRect">
            <a:avLst>
              <a:gd name="adj" fmla="val 4683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381590" y="2941042"/>
            <a:ext cx="2740949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18 Features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5381590" y="3320852"/>
            <a:ext cx="2740949" cy="80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Dataset spans customer demographics, purchase details, and shopping behavior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463247" y="2763242"/>
            <a:ext cx="3096540" cy="1538188"/>
          </a:xfrm>
          <a:prstGeom prst="roundRect">
            <a:avLst>
              <a:gd name="adj" fmla="val 4683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41042" y="2941042"/>
            <a:ext cx="2740949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PostgreSQL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8641042" y="3320852"/>
            <a:ext cx="2740949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Cleaned and integrated for comprehensive SQL analysis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5203794" y="4464348"/>
            <a:ext cx="6355993" cy="1003002"/>
          </a:xfrm>
          <a:prstGeom prst="roundRect">
            <a:avLst>
              <a:gd name="adj" fmla="val 7182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81590" y="4642148"/>
            <a:ext cx="6000401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3,900 Records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5381590" y="5021957"/>
            <a:ext cx="600040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Full transaction-level data powering every insight in this report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1908" y="2534543"/>
            <a:ext cx="846216" cy="274241"/>
          </a:xfrm>
          <a:prstGeom prst="roundRect">
            <a:avLst>
              <a:gd name="adj" fmla="val 22121"/>
            </a:avLst>
          </a:prstGeom>
          <a:solidFill>
            <a:srgbClr val="460707"/>
          </a:solidFill>
          <a:ln/>
        </p:spPr>
      </p:sp>
      <p:sp>
        <p:nvSpPr>
          <p:cNvPr id="4" name="Text 1"/>
          <p:cNvSpPr/>
          <p:nvPr/>
        </p:nvSpPr>
        <p:spPr>
          <a:xfrm>
            <a:off x="740153" y="2588617"/>
            <a:ext cx="1239310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CHAPTER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31908" y="2880916"/>
            <a:ext cx="6355993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Key Findings</a:t>
            </a:r>
            <a:endParaRPr lang="en-US" sz="3700" dirty="0"/>
          </a:p>
        </p:txBody>
      </p:sp>
      <p:sp>
        <p:nvSpPr>
          <p:cNvPr id="6" name="Text 3"/>
          <p:cNvSpPr/>
          <p:nvPr/>
        </p:nvSpPr>
        <p:spPr>
          <a:xfrm>
            <a:off x="631908" y="3745607"/>
            <a:ext cx="6355993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What the data reveals about who is buying, what they buy, and how they behave.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762794"/>
            <a:ext cx="10927878" cy="1128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Revenue Skewed Toward Male Customers</a:t>
            </a:r>
            <a:endParaRPr lang="en-US" sz="3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2318742"/>
            <a:ext cx="4991868" cy="35932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11444" y="2298402"/>
            <a:ext cx="5254692" cy="282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Significant Revenue Gap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311444" y="2743398"/>
            <a:ext cx="5254692" cy="12170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1150"/>
              </a:spcAft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 customers account for </a:t>
            </a:r>
            <a:pPr algn="l" indent="0" marL="0">
              <a:lnSpc>
                <a:spcPct val="130000"/>
              </a:lnSpc>
              <a:spcAft>
                <a:spcPts val="1150"/>
              </a:spcAft>
              <a:buNone/>
            </a:pPr>
            <a:r>
              <a:rPr lang="en-US" sz="1350" b="1" dirty="0">
                <a:solidFill>
                  <a:srgbClr val="C9131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$157,890 — 68% of total revenue</a:t>
            </a:r>
            <a:pPr algn="l" indent="0" marL="0">
              <a:lnSpc>
                <a:spcPct val="130000"/>
              </a:lnSpc>
              <a:spcAft>
                <a:spcPts val="1150"/>
              </a:spcAft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, while female customers generate $75,191 (32%).</a:t>
            </a:r>
            <a:endParaRPr lang="en-US" sz="13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near 2:1 imbalance signals an underserved segment with meaningful growth potential.</a:t>
            </a:r>
            <a:endParaRPr lang="en-US" sz="1350" dirty="0"/>
          </a:p>
        </p:txBody>
      </p:sp>
      <p:sp>
        <p:nvSpPr>
          <p:cNvPr id="6" name="Shape 3"/>
          <p:cNvSpPr/>
          <p:nvPr/>
        </p:nvSpPr>
        <p:spPr>
          <a:xfrm>
            <a:off x="6311444" y="4143673"/>
            <a:ext cx="5254692" cy="914202"/>
          </a:xfrm>
          <a:prstGeom prst="roundRect">
            <a:avLst>
              <a:gd name="adj" fmla="val 7880"/>
            </a:avLst>
          </a:prstGeom>
          <a:solidFill>
            <a:srgbClr val="740B0B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2890" y="4389934"/>
            <a:ext cx="214307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68643" y="4333180"/>
            <a:ext cx="4526048" cy="53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Opportunity: Develop targeted campaigns to increase female customer engagement and spending.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613793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Loyal Customers Dominate the Base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31908" y="2658963"/>
            <a:ext cx="3492214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80%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631908" y="3480296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Loyal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31908" y="3885406"/>
            <a:ext cx="349221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3,116 customers — the bedrock of the business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349740" y="2658963"/>
            <a:ext cx="3492214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18%</a:t>
            </a:r>
            <a:endParaRPr lang="en-US" sz="4650" dirty="0"/>
          </a:p>
        </p:txBody>
      </p:sp>
      <p:sp>
        <p:nvSpPr>
          <p:cNvPr id="7" name="Text 5"/>
          <p:cNvSpPr/>
          <p:nvPr/>
        </p:nvSpPr>
        <p:spPr>
          <a:xfrm>
            <a:off x="4349740" y="3480296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Returning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4349740" y="3885406"/>
            <a:ext cx="349221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701 customers with repeat purchase intent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67572" y="2658963"/>
            <a:ext cx="3492214" cy="5958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2%</a:t>
            </a:r>
            <a:endParaRPr lang="en-US" sz="4650" dirty="0"/>
          </a:p>
        </p:txBody>
      </p:sp>
      <p:sp>
        <p:nvSpPr>
          <p:cNvPr id="10" name="Text 8"/>
          <p:cNvSpPr/>
          <p:nvPr/>
        </p:nvSpPr>
        <p:spPr>
          <a:xfrm>
            <a:off x="8067572" y="3480296"/>
            <a:ext cx="3492214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New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8067572" y="3885406"/>
            <a:ext cx="349221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83 new customers — acquisition is a gap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1908" y="4666357"/>
            <a:ext cx="10927878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customer base is heavily retention-driven. While loyalty is a strength, the near-absence of new customers signals that acquisition strategies need urgent attention.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1696145"/>
            <a:ext cx="3595598" cy="95011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Subscription Adoption Lags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631908" y="2761754"/>
            <a:ext cx="3595598" cy="13517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</a:t>
            </a:r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b="1" dirty="0">
                <a:solidFill>
                  <a:srgbClr val="C9131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27% of customers</a:t>
            </a:r>
            <a:pPr algn="l" indent="0" marL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hold an active subscription — just 1,053 of 3,900.</a:t>
            </a:r>
            <a:endParaRPr lang="en-US" sz="11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Counterintuitively, subscribers spend </a:t>
            </a:r>
            <a:pPr algn="l" indent="0" marL="0">
              <a:lnSpc>
                <a:spcPct val="120000"/>
              </a:lnSpc>
              <a:buNone/>
            </a:pPr>
            <a:r>
              <a:rPr lang="en-US" sz="1100" i="1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slightly less</a:t>
            </a:r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on average ($59.49) than non-subscribers ($59.87), suggesting the subscription model is not currently driving incremental spend.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31908" y="4243487"/>
            <a:ext cx="3595598" cy="903883"/>
          </a:xfrm>
          <a:prstGeom prst="roundRect">
            <a:avLst>
              <a:gd name="adj" fmla="val 6711"/>
            </a:avLst>
          </a:prstGeom>
          <a:solidFill>
            <a:srgbClr val="4B3F0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6268" y="4420989"/>
            <a:ext cx="180474" cy="144363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1102" y="4383484"/>
            <a:ext cx="2982044" cy="623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subscription model needs repositioning to justify adoption and deliver measurable value.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4258" y="1846858"/>
            <a:ext cx="5583792" cy="31641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90626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Clothing Dominates Revenue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974056"/>
            <a:ext cx="5243679" cy="377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2457" y="1951434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Category Breakdown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2457" y="2428776"/>
            <a:ext cx="5243679" cy="15708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Clothing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leads with ~$100K — 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C91313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56% of total revenue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Accessories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contribute ~$75K (42%), making it a strong secondary category</a:t>
            </a:r>
            <a:endParaRPr lang="en-US" sz="1400" dirty="0"/>
          </a:p>
          <a:p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Footwear &amp; Outerwear</a:t>
            </a:r>
            <a:pPr algn="l" marL="284480" indent="-284480">
              <a:lnSpc>
                <a:spcPct val="133000"/>
              </a:lnSpc>
              <a:buSzPct val="100000"/>
              <a:buChar char="•"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combined account for only ~$45K (2%) — an area to monitor or invest in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6322457" y="4162028"/>
            <a:ext cx="5243679" cy="8667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The concentration in two categories creates both opportunity and risk. Diversifying footwear and outerwear performance could meaningfully expand revenue.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9809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1908" y="1371501"/>
            <a:ext cx="6355993" cy="11283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Top-Rated Products Drive Loyalty</a:t>
            </a:r>
            <a:endParaRPr lang="en-US" sz="3550" dirty="0"/>
          </a:p>
        </p:txBody>
      </p:sp>
      <p:sp>
        <p:nvSpPr>
          <p:cNvPr id="4" name="Shape 1"/>
          <p:cNvSpPr/>
          <p:nvPr/>
        </p:nvSpPr>
        <p:spPr>
          <a:xfrm>
            <a:off x="631908" y="2744192"/>
            <a:ext cx="3096540" cy="1557238"/>
          </a:xfrm>
          <a:prstGeom prst="roundRect">
            <a:avLst>
              <a:gd name="adj" fmla="val 4626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809704" y="2921992"/>
            <a:ext cx="2740949" cy="301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⭐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Top Rated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09704" y="3320852"/>
            <a:ext cx="2740949" cy="80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Gloves (3.86★), Sandals (3.84★), Boots (3.82★) lead in customer satisfaction scores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3891361" y="2744192"/>
            <a:ext cx="3096540" cy="1557238"/>
          </a:xfrm>
          <a:prstGeom prst="roundRect">
            <a:avLst>
              <a:gd name="adj" fmla="val 4626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69157" y="2921992"/>
            <a:ext cx="2740949" cy="301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👕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Clothing Leaders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069157" y="3320852"/>
            <a:ext cx="2740949" cy="8027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Blouse, Pants, and Shirt are the highest-volume sellers in the Clothing category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631908" y="4464348"/>
            <a:ext cx="6355993" cy="1022052"/>
          </a:xfrm>
          <a:prstGeom prst="roundRect">
            <a:avLst>
              <a:gd name="adj" fmla="val 7048"/>
            </a:avLst>
          </a:prstGeom>
          <a:solidFill>
            <a:srgbClr val="740B0B"/>
          </a:solidFill>
          <a:ln w="6350">
            <a:solidFill>
              <a:srgbClr val="8D242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09704" y="4642148"/>
            <a:ext cx="6000401" cy="3011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💍</a:t>
            </a:r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FE5E5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 Accessories Leaders</a:t>
            </a:r>
            <a:endParaRPr lang="en-US" sz="1750" dirty="0"/>
          </a:p>
        </p:txBody>
      </p:sp>
      <p:sp>
        <p:nvSpPr>
          <p:cNvPr id="12" name="Text 9"/>
          <p:cNvSpPr/>
          <p:nvPr/>
        </p:nvSpPr>
        <p:spPr>
          <a:xfrm>
            <a:off x="809704" y="5041007"/>
            <a:ext cx="6000401" cy="267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Jewelry, Sunglasses, and Belt top the Accessories category by sales volume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502245"/>
            <a:ext cx="10927878" cy="315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Discounts Drive Sales, Not Loyalty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631908" y="3025973"/>
            <a:ext cx="5346963" cy="1577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High Discount Dependency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631908" y="3234630"/>
            <a:ext cx="5346963" cy="3879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Hat</a:t>
            </a:r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50% of purchases used a discount</a:t>
            </a:r>
            <a:endParaRPr lang="en-US" sz="750" dirty="0"/>
          </a:p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Sneakers</a:t>
            </a:r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49.66% discount rate</a:t>
            </a:r>
            <a:endParaRPr lang="en-US" sz="750" dirty="0"/>
          </a:p>
          <a:p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b="1" dirty="0">
                <a:solidFill>
                  <a:srgbClr val="FFE5E5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Coat</a:t>
            </a:r>
            <a:pPr algn="l" marL="152400" indent="-152400">
              <a:lnSpc>
                <a:spcPct val="102000"/>
              </a:lnSpc>
              <a:buSzPct val="100000"/>
              <a:buChar char="•"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: 49.07% discount rate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631908" y="3668415"/>
            <a:ext cx="5346963" cy="234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839 customers spend above average even when discounts are applied — a signal that value perception exists, but it is being trained on price cuts rather than product merit.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631908" y="3960614"/>
            <a:ext cx="5346963" cy="256977"/>
          </a:xfrm>
          <a:prstGeom prst="roundRect">
            <a:avLst>
              <a:gd name="adj" fmla="val 15676"/>
            </a:avLst>
          </a:prstGeom>
          <a:solidFill>
            <a:srgbClr val="45070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7751" y="4040386"/>
            <a:ext cx="119853" cy="9584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3447" y="4030365"/>
            <a:ext cx="5549166" cy="1174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750" dirty="0">
                <a:solidFill>
                  <a:srgbClr val="FFFFFF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Over-reliance on discounts risks eroding margins and conditioning customers to wait for sales.</a:t>
            </a:r>
            <a:endParaRPr lang="en-US" sz="75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173" y="951409"/>
            <a:ext cx="5346963" cy="534709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31908" y="906264"/>
            <a:ext cx="10927878" cy="593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Young Adults Spend Most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1908" y="1974056"/>
            <a:ext cx="5243679" cy="37744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322457" y="1951434"/>
            <a:ext cx="5243679" cy="2968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dirty="0">
                <a:solidFill>
                  <a:srgbClr val="FAEBEB"/>
                </a:solidFill>
                <a:latin typeface="Dela Gothic One" pitchFamily="34" charset="0"/>
                <a:ea typeface="Dela Gothic One" pitchFamily="34" charset="-122"/>
                <a:cs typeface="Dela Gothic One" pitchFamily="34" charset="-120"/>
              </a:rPr>
              <a:t>A Clear Age Hierarchy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6322457" y="2428776"/>
            <a:ext cx="5243679" cy="234731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b="1" dirty="0">
                <a:solidFill>
                  <a:srgbClr val="C91313"/>
                </a:solidFill>
                <a:latin typeface="DM Sans Bold" pitchFamily="34" charset="0"/>
                <a:ea typeface="DM Sans Bold" pitchFamily="34" charset="-122"/>
                <a:cs typeface="DM Sans Bold" pitchFamily="34" charset="-120"/>
              </a:rPr>
              <a:t>Young Adults (18–30)</a:t>
            </a:r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 generate the most revenue at $62,143 — outpacing every other age cohort.</a:t>
            </a:r>
            <a:endParaRPr lang="en-US" sz="1400" dirty="0"/>
          </a:p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Middle-aged customers follow closely at $59,197, while Adult and Senior segments each contribute approximately $55K.</a:t>
            </a:r>
            <a:endParaRPr lang="en-US" sz="14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00" dirty="0">
                <a:solidFill>
                  <a:srgbClr val="FFE5E5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This distribution suggests marketing investment in the 18–30 segment offers the highest return, while senior outreach remains underexplored.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2026-09-05T13:22:06Z</dcterms:created>
  <dcterms:modified xsi:type="dcterms:W3CDTF">2026-09-05T13:22:06Z</dcterms:modified>
</cp:coreProperties>
</file>